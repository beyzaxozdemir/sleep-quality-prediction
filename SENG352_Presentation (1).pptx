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99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315200" y="914400"/>
            <a:ext cx="2286000" cy="22860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SENG 352 — Data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Beyza Nur Özdemir</a:t>
            </a: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Hulusi Efe Görgüç</a:t>
            </a: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Çiğdem Tapkan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|  Çankaya University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Motivation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Pipeline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96596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463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person has good or poor sleep quality based on lifestyle and health features using ML classification models.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affects both physical and mental health. Predictive models can help individuals and clinicians identify risk factors early.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2918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— target: Quality of Sleep ≥ 7 → Good (1), otherwise Poor (0). Sleep Disorder is kept as an input feature.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4688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4688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91840" y="960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4688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126480" y="960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(Binary)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4864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Occupation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54864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0080" y="3145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Duration (hours)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93592"/>
            <a:ext cx="54864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0080" y="3547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Sleep (1–10)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95928"/>
            <a:ext cx="54864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40080" y="39502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 Level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98264"/>
            <a:ext cx="54864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40080" y="43525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 (1–10)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937760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Category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191256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937760" y="3145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→ Systolic / Diastolic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593592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937760" y="3547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995928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937760" y="39502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Steps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4398264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937760" y="43525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Disorder (feature)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Sleep Health and Lifestyle Dataset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38912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389120" cy="34747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389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●  ●  ●    preprocessing.py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missing Sleep Disorder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df['Sleep Disorder'].fillna('None')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Blood Pressure column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df[['Systolic_BP','Diastolic_BP']] =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df['Blood Pressure'].str.split('/')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Label Encode categoricals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cat_cols: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df[col] = le.fit_transform(df[col])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8862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binary 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df['Target'] = df['Quality'].apply(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 x: 1 if x &gt;= 7 else 0)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960120"/>
            <a:ext cx="3749040" cy="566928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029200" y="96012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212080" y="9966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234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Disorder NaN → filled with 'None'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1627632"/>
            <a:ext cx="3749040" cy="566928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5029200" y="1627632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212080" y="16642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Splitting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19019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split into Systolic_BP &amp; Diastolic_BP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295144"/>
            <a:ext cx="3749040" cy="566928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5029200" y="2295144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212080" y="2331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2569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Occupation, BMI Category, Sleep Disorder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2962656"/>
            <a:ext cx="3749040" cy="566928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5029200" y="2962656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5212080" y="29992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Engineering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2369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Sleep ≥ 7 → Good (1), else Poor (0)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3630168"/>
            <a:ext cx="3749040" cy="566928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5029200" y="3630168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5212080" y="36667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39044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random_state=42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4297680"/>
            <a:ext cx="3749040" cy="566928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5029200" y="429768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212080" y="43342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4572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features for 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658368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197864" y="1554480"/>
            <a:ext cx="658368" cy="493776"/>
          </a:xfrm>
          <a:prstGeom prst="rect">
            <a:avLst/>
          </a:prstGeom>
          <a:solidFill>
            <a:srgbClr val="4DB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892808" y="1554480"/>
            <a:ext cx="658368" cy="493776"/>
          </a:xfrm>
          <a:prstGeom prst="rect">
            <a:avLst/>
          </a:prstGeom>
          <a:solidFill>
            <a:srgbClr val="B2DF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587752" y="1554480"/>
            <a:ext cx="658368" cy="493776"/>
          </a:xfrm>
          <a:prstGeom prst="rect">
            <a:avLst/>
          </a:prstGeom>
          <a:solidFill>
            <a:srgbClr val="FFCCB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282696" y="1554480"/>
            <a:ext cx="658368" cy="493776"/>
          </a:xfrm>
          <a:prstGeom prst="rect">
            <a:avLst/>
          </a:prstGeom>
          <a:solidFill>
            <a:srgbClr val="FF704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658368" cy="493776"/>
          </a:xfrm>
          <a:prstGeom prst="rect">
            <a:avLst/>
          </a:prstGeom>
          <a:solidFill>
            <a:srgbClr val="4DB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197864" y="2084832"/>
            <a:ext cx="658368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1892808" y="2084832"/>
            <a:ext cx="658368" cy="493776"/>
          </a:xfrm>
          <a:prstGeom prst="rect">
            <a:avLst/>
          </a:prstGeom>
          <a:solidFill>
            <a:srgbClr val="80CB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2587752" y="2084832"/>
            <a:ext cx="658368" cy="493776"/>
          </a:xfrm>
          <a:prstGeom prst="rect">
            <a:avLst/>
          </a:prstGeom>
          <a:solidFill>
            <a:srgbClr val="FFAB9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282696" y="2084832"/>
            <a:ext cx="658368" cy="493776"/>
          </a:xfrm>
          <a:prstGeom prst="rect">
            <a:avLst/>
          </a:prstGeom>
          <a:solidFill>
            <a:srgbClr val="FF57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658368" cy="493776"/>
          </a:xfrm>
          <a:prstGeom prst="rect">
            <a:avLst/>
          </a:prstGeom>
          <a:solidFill>
            <a:srgbClr val="B2DF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197864" y="2615184"/>
            <a:ext cx="658368" cy="493776"/>
          </a:xfrm>
          <a:prstGeom prst="rect">
            <a:avLst/>
          </a:prstGeom>
          <a:solidFill>
            <a:srgbClr val="80CB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1892808" y="2615184"/>
            <a:ext cx="658368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2587752" y="2615184"/>
            <a:ext cx="658368" cy="493776"/>
          </a:xfrm>
          <a:prstGeom prst="rect">
            <a:avLst/>
          </a:prstGeom>
          <a:solidFill>
            <a:srgbClr val="FF8A6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282696" y="2615184"/>
            <a:ext cx="658368" cy="493776"/>
          </a:xfrm>
          <a:prstGeom prst="rect">
            <a:avLst/>
          </a:prstGeom>
          <a:solidFill>
            <a:srgbClr val="FF57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02920" y="3145536"/>
            <a:ext cx="658368" cy="493776"/>
          </a:xfrm>
          <a:prstGeom prst="rect">
            <a:avLst/>
          </a:prstGeom>
          <a:solidFill>
            <a:srgbClr val="FFCCB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1197864" y="3145536"/>
            <a:ext cx="658368" cy="493776"/>
          </a:xfrm>
          <a:prstGeom prst="rect">
            <a:avLst/>
          </a:prstGeom>
          <a:solidFill>
            <a:srgbClr val="FFAB9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1892808" y="3145536"/>
            <a:ext cx="658368" cy="493776"/>
          </a:xfrm>
          <a:prstGeom prst="rect">
            <a:avLst/>
          </a:prstGeom>
          <a:solidFill>
            <a:srgbClr val="FF8A6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2587752" y="3145536"/>
            <a:ext cx="658368" cy="493776"/>
          </a:xfrm>
          <a:prstGeom prst="rect">
            <a:avLst/>
          </a:prstGeom>
          <a:solidFill>
            <a:srgbClr val="E64A1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3282696" y="3145536"/>
            <a:ext cx="658368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502920" y="3675888"/>
            <a:ext cx="658368" cy="493776"/>
          </a:xfrm>
          <a:prstGeom prst="rect">
            <a:avLst/>
          </a:prstGeom>
          <a:solidFill>
            <a:srgbClr val="FF704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1197864" y="3675888"/>
            <a:ext cx="658368" cy="493776"/>
          </a:xfrm>
          <a:prstGeom prst="rect">
            <a:avLst/>
          </a:prstGeom>
          <a:solidFill>
            <a:srgbClr val="FF57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1892808" y="3675888"/>
            <a:ext cx="658368" cy="493776"/>
          </a:xfrm>
          <a:prstGeom prst="rect">
            <a:avLst/>
          </a:prstGeom>
          <a:solidFill>
            <a:srgbClr val="FF57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2587752" y="3675888"/>
            <a:ext cx="658368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282696" y="3675888"/>
            <a:ext cx="658368" cy="493776"/>
          </a:xfrm>
          <a:prstGeom prst="rect">
            <a:avLst/>
          </a:prstGeom>
          <a:solidFill>
            <a:srgbClr val="E64A1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02920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97864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92808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87752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82696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5761" y="4526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Sleep Duration and Stress Level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strong negative correlation with Quality of Sleep.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960120"/>
            <a:ext cx="40233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8920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vs. Stress Level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937760" y="2373376"/>
            <a:ext cx="457200" cy="1832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937760" y="21722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37760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04688" y="2529840"/>
            <a:ext cx="457200" cy="1676400"/>
          </a:xfrm>
          <a:prstGeom prst="rect">
            <a:avLst/>
          </a:prstGeom>
          <a:solidFill>
            <a:srgbClr val="FF57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504688" y="2328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04688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71616" y="2865120"/>
            <a:ext cx="457200" cy="13411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6071616" y="266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71616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38544" y="3133344"/>
            <a:ext cx="457200" cy="1072896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638544" y="29321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38544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05472" y="3334512"/>
            <a:ext cx="457200" cy="871728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7205472" y="31333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205472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72400" y="3647440"/>
            <a:ext cx="457200" cy="55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7772400" y="3446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0" y="46045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Sleep →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46320" y="4206240"/>
            <a:ext cx="356616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4688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468880" cy="1554480"/>
          </a:xfrm>
          <a:prstGeom prst="rect">
            <a:avLst/>
          </a:prstGeom>
          <a:solidFill>
            <a:srgbClr val="F0F7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26080" y="2011680"/>
            <a:ext cx="36576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907792" y="187452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468880" cy="3200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29184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468880" cy="1554480"/>
          </a:xfrm>
          <a:prstGeom prst="rect">
            <a:avLst/>
          </a:prstGeom>
          <a:solidFill>
            <a:srgbClr val="F0F7F8"/>
          </a:solidFill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760720" y="2011680"/>
            <a:ext cx="36576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742432" y="187452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4688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12648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468880" cy="1554480"/>
          </a:xfrm>
          <a:prstGeom prst="rect">
            <a:avLst/>
          </a:prstGeom>
          <a:solidFill>
            <a:srgbClr val="F0F7F8"/>
          </a:solidFill>
          <a:ln w="190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126480" y="13258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(Baseline)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5844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85800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85800" y="3840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27939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85800" y="4187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benchmark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35844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520440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3931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520440" y="3840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required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427939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520440" y="4187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Visualizable decision rules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(Final)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35844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355080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3931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355080" y="3840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of decision trees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427939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355080" y="4187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generalization, used in CV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Strategy: 5-Fold Cross-Validation on Random Forest  |  80/20 Train-Test Split  |  random_state = 42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560320" cy="20116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200400" y="1965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56032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7734822" y="960120"/>
            <a:ext cx="860538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589520" y="960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035040" y="1965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84124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— 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58568" y="3749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58568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77056" y="3749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7056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95544" y="3749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95544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0.9067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14032" y="3749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14032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0.9787  |  Std Dev: 0.0364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817476" y="3989489"/>
            <a:ext cx="2286000" cy="2286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-1476756" y="4330521"/>
            <a:ext cx="2286000" cy="22860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8404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1430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binary classifier to predict sleep quality from lifestyle features.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38404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6576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85623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100% accuracy on test set; CV mean of 0.979 across 5 folds.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38404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6576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569464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predictors: Stress Level, Sleep Duration, and Physical Activity Level.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82696"/>
            <a:ext cx="38404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6576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282696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splitting into Systolic/Diastolic improved feature representation.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995928"/>
            <a:ext cx="38404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6576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9959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SHAP explainability, hyperparameter tuning, and real-time input prediction.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|  Questions?  |  SENG 352 — Çankaya University  |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648</Words>
  <Application>Microsoft Office PowerPoint</Application>
  <PresentationFormat>On-screen Show (16:9)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Quality Prediction - SENG352</dc:title>
  <dc:subject>PptxGenJS Presentation</dc:subject>
  <dc:creator>PptxGenJS</dc:creator>
  <cp:lastModifiedBy>Beyza Nur ÖZDEMİR</cp:lastModifiedBy>
  <cp:revision>2</cp:revision>
  <dcterms:created xsi:type="dcterms:W3CDTF">2026-05-04T19:42:14Z</dcterms:created>
  <dcterms:modified xsi:type="dcterms:W3CDTF">2026-05-04T19:49:24Z</dcterms:modified>
</cp:coreProperties>
</file>